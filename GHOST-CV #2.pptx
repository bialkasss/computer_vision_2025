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ulish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Mulish-bold.fntdata"/><Relationship Id="rId10" Type="http://schemas.openxmlformats.org/officeDocument/2006/relationships/slide" Target="slides/slide5.xml"/><Relationship Id="rId21" Type="http://schemas.openxmlformats.org/officeDocument/2006/relationships/font" Target="fonts/Mulish-regular.fntdata"/><Relationship Id="rId13" Type="http://schemas.openxmlformats.org/officeDocument/2006/relationships/slide" Target="slides/slide8.xml"/><Relationship Id="rId24" Type="http://schemas.openxmlformats.org/officeDocument/2006/relationships/font" Target="fonts/Mulish-boldItalic.fntdata"/><Relationship Id="rId12" Type="http://schemas.openxmlformats.org/officeDocument/2006/relationships/slide" Target="slides/slide7.xml"/><Relationship Id="rId23" Type="http://schemas.openxmlformats.org/officeDocument/2006/relationships/font" Target="fonts/Mulish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75d0e09e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75d0e09e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c0d3b8b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c0d3b8b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750c350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750c350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750c350b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750c350b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750c350b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750c350b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75d0e09e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75d0e09e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c0d3b8b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c0d3b8b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c0d3b8ba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c0d3b8ba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c0d3b8ba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c0d3b8ba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c0d3b8ba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c0d3b8ba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c0d3b8ba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c0d3b8ba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c0d3b8ba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c0d3b8ba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c0d3b8ba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c0d3b8ba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b37adface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b37adface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Verdana"/>
              <a:buNone/>
              <a:defRPr sz="52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○"/>
              <a:defRPr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■"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●"/>
              <a:defRPr sz="1400"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●"/>
              <a:defRPr sz="1200">
                <a:latin typeface="Verdana"/>
                <a:ea typeface="Verdana"/>
                <a:cs typeface="Verdana"/>
                <a:sym typeface="Verdan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○"/>
              <a:defRPr sz="1200">
                <a:latin typeface="Verdana"/>
                <a:ea typeface="Verdana"/>
                <a:cs typeface="Verdana"/>
                <a:sym typeface="Verdan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Verdana"/>
              <a:buChar char="■"/>
              <a:defRPr sz="1200"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ulish"/>
              <a:buNone/>
              <a:defRPr sz="28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ulish"/>
              <a:buChar char="●"/>
              <a:defRPr sz="18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○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■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●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○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■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●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○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■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hyperlink" Target="http://drive.google.com/file/d/15IC1NnjrJA3ctzLjeJfw0u3gWCtcKMvZ/view" TargetMode="External"/><Relationship Id="rId5" Type="http://schemas.openxmlformats.org/officeDocument/2006/relationships/image" Target="../media/image1.jp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136450" y="674425"/>
            <a:ext cx="4871100" cy="353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55" name="Google Shape;55;p13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563" y="806101"/>
            <a:ext cx="6900869" cy="35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136450" y="674425"/>
            <a:ext cx="4871100" cy="353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681200" y="351775"/>
            <a:ext cx="578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Obecność</a:t>
            </a:r>
            <a:endParaRPr sz="2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1975" y="874975"/>
            <a:ext cx="3360050" cy="336005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2136450" y="674425"/>
            <a:ext cx="4871100" cy="353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68" name="Google Shape;68;p15" title="start-attendance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3675" y="943825"/>
            <a:ext cx="3531300" cy="35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681200" y="351775"/>
            <a:ext cx="578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Pierwsza obecność</a:t>
            </a:r>
            <a:endParaRPr sz="22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75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CV- poz</a:t>
            </a:r>
            <a:r>
              <a:rPr lang="pl" sz="2520"/>
              <a:t>yskiwanie</a:t>
            </a:r>
            <a:r>
              <a:rPr lang="pl" sz="2520"/>
              <a:t> znaczących informacji</a:t>
            </a:r>
            <a:endParaRPr sz="2520"/>
          </a:p>
        </p:txBody>
      </p:sp>
      <p:sp>
        <p:nvSpPr>
          <p:cNvPr id="75" name="Google Shape;75;p16"/>
          <p:cNvSpPr txBox="1"/>
          <p:nvPr/>
        </p:nvSpPr>
        <p:spPr>
          <a:xfrm>
            <a:off x="2375325" y="2718225"/>
            <a:ext cx="65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194475" y="2275400"/>
            <a:ext cx="2077800" cy="16236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300">
                <a:solidFill>
                  <a:srgbClr val="F3F3F3"/>
                </a:solidFill>
                <a:latin typeface="Mulish"/>
                <a:ea typeface="Mulish"/>
                <a:cs typeface="Mulish"/>
                <a:sym typeface="Mulish"/>
              </a:rPr>
              <a:t>OBRAZ</a:t>
            </a:r>
            <a:endParaRPr b="1" sz="2300">
              <a:solidFill>
                <a:srgbClr val="F3F3F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862750" y="2814650"/>
            <a:ext cx="1089900" cy="54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230050" y="2275400"/>
            <a:ext cx="2572500" cy="1623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300">
                <a:solidFill>
                  <a:srgbClr val="F3F3F3"/>
                </a:solidFill>
                <a:latin typeface="Mulish"/>
                <a:ea typeface="Mulish"/>
                <a:cs typeface="Mulish"/>
                <a:sym typeface="Mulish"/>
              </a:rPr>
              <a:t>OPIS</a:t>
            </a:r>
            <a:endParaRPr b="1" sz="2300">
              <a:solidFill>
                <a:srgbClr val="F3F3F3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300">
                <a:solidFill>
                  <a:srgbClr val="F3F3F3"/>
                </a:solidFill>
                <a:latin typeface="Mulish"/>
                <a:ea typeface="Mulish"/>
                <a:cs typeface="Mulish"/>
                <a:sym typeface="Mulish"/>
              </a:rPr>
              <a:t>INFORMACJA</a:t>
            </a:r>
            <a:endParaRPr b="1" sz="2300">
              <a:solidFill>
                <a:srgbClr val="F3F3F3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95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620"/>
              <a:t>Obraz - macierz</a:t>
            </a:r>
            <a:endParaRPr sz="262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375" y="2516725"/>
            <a:ext cx="4120101" cy="187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287050"/>
            <a:ext cx="3998457" cy="23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263825" y="88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Obraz - macierz</a:t>
            </a:r>
            <a:endParaRPr sz="252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7325" y="1628200"/>
            <a:ext cx="6869350" cy="28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237400" y="863550"/>
            <a:ext cx="339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>
                <a:solidFill>
                  <a:schemeClr val="lt1"/>
                </a:solidFill>
              </a:rPr>
              <a:t>Przykład użycia tradycyjnego CV w praktyce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3000">
                <a:solidFill>
                  <a:schemeClr val="lt1"/>
                </a:solidFill>
              </a:rPr>
              <a:t>EVENT TRACKER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100" name="Google Shape;100;p19" title="oE2.avi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3600" y="284650"/>
            <a:ext cx="5392451" cy="444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6000" y="3687530"/>
            <a:ext cx="1238600" cy="1242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63825" y="88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Hough lines</a:t>
            </a:r>
            <a:endParaRPr sz="2520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457825" y="14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Kartezjański system współrzędnych (m,b)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Układ współrzędnych biegunowych (r,θ)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Dla każdego</a:t>
            </a:r>
            <a:r>
              <a:rPr lang="pl"/>
              <a:t> punktu (x0,y0) w przestrzeni można zdefiniować rodzinę linii, która przez niego przechodzi jako: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2150" y="2781175"/>
            <a:ext cx="24765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675" y="3138900"/>
            <a:ext cx="3240575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263825" y="88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Hough lines</a:t>
            </a:r>
            <a:endParaRPr sz="2520"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57825" y="14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Dla danego (x0,y0) możemy pokazać rodzinę linii która przez niego </a:t>
            </a:r>
            <a:r>
              <a:rPr lang="pl"/>
              <a:t>przechodzi</a:t>
            </a:r>
            <a:r>
              <a:rPr lang="pl"/>
              <a:t> z parametrami  </a:t>
            </a:r>
            <a:r>
              <a:rPr lang="pl"/>
              <a:t>(r,θ)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wizualizacja dla </a:t>
            </a:r>
            <a:r>
              <a:rPr lang="pl"/>
              <a:t>x0=8  and y0=6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0200" y="2442713"/>
            <a:ext cx="2952750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63825" y="88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Hough lines</a:t>
            </a:r>
            <a:endParaRPr sz="2520"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457825" y="14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Powtarzamy ten schemat dla wszystkich punktów w obrazku. Jeśli krzywe dwóch innych punktów przecinają się w przestrzeni </a:t>
            </a:r>
            <a:r>
              <a:rPr lang="pl"/>
              <a:t>θ - r</a:t>
            </a:r>
            <a:r>
              <a:rPr lang="pl"/>
              <a:t>, znaczy, że oba punkty należą do tej samej linii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Wizualizacja dla x1=4 , y1=9 i x2=12, y2=3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0800" y="2376925"/>
            <a:ext cx="29146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263825" y="88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Hough lines</a:t>
            </a:r>
            <a:endParaRPr sz="2520"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57825" y="14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Linie przecinają się w (0.925, 9.6), co oznacza że są to parametry ( θ,r) dla linii, na której leżą (x0,y0) , (x1,y1) i (x2,y2)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0800" y="2376925"/>
            <a:ext cx="291465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263825" y="88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Użycie</a:t>
            </a:r>
            <a:endParaRPr sz="2520"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6738" y="1524800"/>
            <a:ext cx="2970525" cy="314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263825" y="88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Hough circles</a:t>
            </a:r>
            <a:endParaRPr sz="2520"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57825" y="14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Działa analogicznie do Hough Lines, przy czym wzór na koło to C:(x_center,y_center,r)</a:t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0800" y="2376925"/>
            <a:ext cx="29146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0799" y="2154275"/>
            <a:ext cx="2824050" cy="26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263825" y="88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520"/>
              <a:t>Kaggle competitions</a:t>
            </a:r>
            <a:endParaRPr sz="2520"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457825" y="14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7050" y="1685175"/>
            <a:ext cx="280987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DZIEKUJE ZA UWAGE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